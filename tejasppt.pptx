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0" r:id="rId1"/>
  </p:sldMasterIdLst>
  <p:notesMasterIdLst>
    <p:notesMasterId r:id="rId18"/>
  </p:notesMasterIdLst>
  <p:sldIdLst>
    <p:sldId id="483" r:id="rId2"/>
    <p:sldId id="484" r:id="rId3"/>
    <p:sldId id="470" r:id="rId4"/>
    <p:sldId id="491" r:id="rId5"/>
    <p:sldId id="478" r:id="rId6"/>
    <p:sldId id="493" r:id="rId7"/>
    <p:sldId id="492" r:id="rId8"/>
    <p:sldId id="482" r:id="rId9"/>
    <p:sldId id="488" r:id="rId10"/>
    <p:sldId id="486" r:id="rId11"/>
    <p:sldId id="489" r:id="rId12"/>
    <p:sldId id="490" r:id="rId13"/>
    <p:sldId id="485" r:id="rId14"/>
    <p:sldId id="487" r:id="rId15"/>
    <p:sldId id="473" r:id="rId16"/>
    <p:sldId id="468" r:id="rId17"/>
  </p:sldIdLst>
  <p:sldSz cx="12192000" cy="6858000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7" autoAdjust="0"/>
    <p:restoredTop sz="94434" autoAdjust="0"/>
  </p:normalViewPr>
  <p:slideViewPr>
    <p:cSldViewPr snapToGrid="0">
      <p:cViewPr varScale="1">
        <p:scale>
          <a:sx n="82" d="100"/>
          <a:sy n="82" d="100"/>
        </p:scale>
        <p:origin x="94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1A9256-F9C8-48F3-9246-288820D1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8C6F2-4266-4213-8BF4-8EA0CDC970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13A30F-9520-44F4-81B2-1BCC447DE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66252B-3FF1-4DA9-A03B-C61619A4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DEBF4-55D6-4B92-B2C6-9B4374F6BE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A1201-67BC-4B63-9687-0E19225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98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34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6918-D4B3-422F-BFF9-D10393C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B6A4-3E11-4AFE-97A2-755EDA1D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3FD1-471F-422B-AFB8-CC8FCE5D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394844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27E7-0E5F-45FD-B9BC-82F6ACE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F7A6-907E-418D-ABF6-CE0D106D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D880-0EA6-4FCD-A723-C3932356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87381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A96-8682-4C88-9622-87E03624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9450-6172-4A34-B37F-64FAD19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622E-84FA-417F-BD5A-BE81A48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603393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0375BCC-EEE9-412B-A532-7314FE84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5CB5DD-B599-4B4E-BFCE-CB9E35FB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CE3315-9445-4BB5-89D3-235E587A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645173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0AD5EF-C609-4119-B375-3771413B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EBF0-B7B0-4583-92AB-A3431DE6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3BC57B-A7E4-4277-9D46-5794964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619855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1D81C82-41E3-4C7D-816C-58F99A17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1C23C57-193A-4FFE-AF84-5DDAD50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0AA421-04F3-46DC-9A65-181848B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5401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218A1C0-5E86-44FA-96CE-D0C3A091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C30598B-A85E-40F2-B0F9-CC04D8E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0ADC7C-B221-49C5-9757-EBEBB0F9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266658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DD4CF-015F-4F62-A63C-9D088FA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56518C-25E4-4791-80CF-9603927D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6B593C-043B-40F1-98DA-B1906E5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220043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5A9D87-E05A-4D16-A703-1E97A8BA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E92F1C-94F6-478A-96CC-20CEB3BF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659F05-47D4-46F4-A7AC-A02AE18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7066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AE25-87DE-4998-B6CE-F4797898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861B-6D3E-4215-A3D0-377EC12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5A02C-FFC9-401E-8BCD-D06F65B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1434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4638-3310-4031-B55D-BE295B1A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728E-C01A-4686-AD71-F7B61E82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1C28-1E00-4F0A-8B9D-A0E46068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9607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A3E1B4-65C6-415A-9681-D05B402B0E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C566853-DAEB-4CB7-818F-723C37230F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D739-9829-4F69-BC53-75013DDD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0A4C-9308-45AA-A1AA-7B038DC01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0DB-89DF-4A35-9269-9E85DEA2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102663E2-6C69-49E4-9FEB-A0ED3DD955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</a:t>
            </a:r>
            <a:r>
              <a:rPr lang="en-GB" sz="2000" b="1" i="0" u="none" strike="noStrike" cap="none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Supervision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</a:pPr>
            <a:r>
              <a:rPr lang="en-GB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Mr.Jinesh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 V 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86072" y="4088074"/>
            <a:ext cx="1200987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Computer Science and Information Technology 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Pallavi R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Mr.Muthugurunathan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G 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Coordinators: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Bhuvaneshwari Patil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70249" y="142667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CSE7000 -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AI RESUME ANALYZER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749231"/>
              </p:ext>
            </p:extLst>
          </p:nvPr>
        </p:nvGraphicFramePr>
        <p:xfrm>
          <a:off x="601909" y="1911875"/>
          <a:ext cx="488449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513221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Tejas T 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20241CSI0008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5CSI01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239800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78759" y="762138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 (Optional)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648573"/>
      </p:ext>
    </p:extLst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9095"/>
            <a:ext cx="10515600" cy="385911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NVIDIA Corporation</a:t>
            </a:r>
          </a:p>
          <a:p>
            <a:pPr lvl="0"/>
            <a:r>
              <a:rPr lang="en-IN" dirty="0"/>
              <a:t>Founded in </a:t>
            </a:r>
            <a:r>
              <a:rPr lang="en-IN" b="1" dirty="0"/>
              <a:t>1993</a:t>
            </a:r>
            <a:r>
              <a:rPr lang="en-IN" dirty="0"/>
              <a:t> and headquartered in </a:t>
            </a:r>
            <a:r>
              <a:rPr lang="en-IN" b="1" dirty="0"/>
              <a:t>Santa Clara, California, USA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A global leader in </a:t>
            </a:r>
            <a:r>
              <a:rPr lang="en-IN" b="1" dirty="0"/>
              <a:t>Artificial Intelligence (AI)</a:t>
            </a:r>
            <a:r>
              <a:rPr lang="en-IN" dirty="0"/>
              <a:t> and </a:t>
            </a:r>
            <a:r>
              <a:rPr lang="en-IN" b="1" dirty="0"/>
              <a:t>Accelerated Computing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Specializes in </a:t>
            </a:r>
            <a:r>
              <a:rPr lang="en-IN" b="1" dirty="0"/>
              <a:t>GPU Computing, Generative AI, Deep Learning, and High-Performance Computing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Delivers innovative AI solutions for industries worldwide.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6428933"/>
      </p:ext>
    </p:extLst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1989C-7F30-A8CA-0464-8BED98FEC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4759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62967-26BF-7285-3C09-E7D6DBFCE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9886"/>
            <a:ext cx="10515600" cy="5247078"/>
          </a:xfrm>
        </p:spPr>
        <p:txBody>
          <a:bodyPr/>
          <a:lstStyle/>
          <a:p>
            <a:pPr lvl="0"/>
            <a:r>
              <a:rPr lang="en-IN" dirty="0"/>
              <a:t>GeForce RTX GPUs </a:t>
            </a:r>
          </a:p>
          <a:p>
            <a:pPr lvl="0"/>
            <a:r>
              <a:rPr lang="en-IN" dirty="0"/>
              <a:t>CUDA Platform </a:t>
            </a:r>
          </a:p>
          <a:p>
            <a:pPr lvl="0"/>
            <a:r>
              <a:rPr lang="en-IN" dirty="0"/>
              <a:t>NVIDIA AI Enterprise 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Clients</a:t>
            </a:r>
            <a:endParaRPr lang="en-IN" dirty="0"/>
          </a:p>
          <a:p>
            <a:pPr lvl="0"/>
            <a:r>
              <a:rPr lang="en-IN" dirty="0"/>
              <a:t>Microsoft </a:t>
            </a:r>
          </a:p>
          <a:p>
            <a:pPr lvl="0"/>
            <a:r>
              <a:rPr lang="en-IN" dirty="0"/>
              <a:t>Google </a:t>
            </a:r>
          </a:p>
          <a:p>
            <a:pPr lvl="0"/>
            <a:r>
              <a:rPr lang="en-IN" dirty="0"/>
              <a:t>Amazon Web Services (AWS) </a:t>
            </a:r>
          </a:p>
          <a:p>
            <a:pPr lvl="0"/>
            <a:r>
              <a:rPr lang="en-IN" dirty="0"/>
              <a:t>Meta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72858-7E03-1CBE-0677-3396E920F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1259880"/>
      </p:ext>
    </p:extLst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3928"/>
            <a:ext cx="10515600" cy="360863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Assigned Domain</a:t>
            </a:r>
          </a:p>
          <a:p>
            <a:pPr marL="342900" lvl="0" indent="-342900"/>
            <a:r>
              <a:rPr lang="en-IN" dirty="0"/>
              <a:t>Artificial Intelligence &amp; Machine Learning </a:t>
            </a:r>
          </a:p>
          <a:p>
            <a:pPr marL="342900" lvl="0" indent="-342900"/>
            <a:r>
              <a:rPr lang="en-IN" dirty="0"/>
              <a:t>Natural Language Processing (NLP) </a:t>
            </a:r>
          </a:p>
          <a:p>
            <a:pPr marL="342900" lvl="0" indent="-342900"/>
            <a:r>
              <a:rPr lang="en-IN" dirty="0"/>
              <a:t>Recruitment &amp; Human Resources </a:t>
            </a:r>
          </a:p>
          <a:p>
            <a:pPr marL="342900" lvl="0" indent="-342900"/>
            <a:r>
              <a:rPr lang="en-IN" dirty="0"/>
              <a:t>Career &amp; Job Matching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887700"/>
      </p:ext>
    </p:extLst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A018D-01A2-B6F0-5039-34A4C69F9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4636" y="1"/>
            <a:ext cx="2248525" cy="2083632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0D801-E60D-6F4E-DB72-09D37D58B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9311" y="1424066"/>
            <a:ext cx="9618689" cy="3833735"/>
          </a:xfrm>
        </p:spPr>
        <p:txBody>
          <a:bodyPr/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Resume text extraction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Skill identification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Job description matching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Resume scoring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Candidate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3865539"/>
      </p:ext>
    </p:extLst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A31E8-A5FE-77A4-89A7-09FA196B3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81038"/>
            <a:ext cx="9205210" cy="311000"/>
          </a:xfrm>
        </p:spPr>
        <p:txBody>
          <a:bodyPr/>
          <a:lstStyle/>
          <a:p>
            <a:br>
              <a:rPr lang="en-IN" sz="2800" b="1" dirty="0">
                <a:latin typeface="+mn-lt"/>
                <a:cs typeface="Times New Roman" panose="02020603050405020304" pitchFamily="18" charset="0"/>
              </a:rPr>
            </a:b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EF650-EA66-4FC2-1FD8-95C2DEAEE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279" y="836538"/>
            <a:ext cx="10515600" cy="5029650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pPr lvl="0"/>
            <a:r>
              <a:rPr lang="en-IN" dirty="0"/>
              <a:t>Saves recruitment time </a:t>
            </a:r>
          </a:p>
          <a:p>
            <a:pPr lvl="0"/>
            <a:r>
              <a:rPr lang="en-IN" dirty="0"/>
              <a:t>Improves candidate screening </a:t>
            </a:r>
          </a:p>
          <a:p>
            <a:pPr lvl="0"/>
            <a:r>
              <a:rPr lang="en-IN" dirty="0"/>
              <a:t>Provides accurate job matching </a:t>
            </a:r>
          </a:p>
          <a:p>
            <a:pPr lvl="0"/>
            <a:r>
              <a:rPr lang="en-IN" dirty="0"/>
              <a:t>Reduces manual evaluation effort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B15D4-AC6E-84AA-B58A-1CAA57DAB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514967"/>
      </p:ext>
    </p:extLst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Purpose</a:t>
            </a:r>
          </a:p>
          <a:p>
            <a:pPr lvl="0"/>
            <a:r>
              <a:rPr lang="en-IN" dirty="0"/>
              <a:t>Automate resume analysis </a:t>
            </a:r>
          </a:p>
          <a:p>
            <a:pPr lvl="0"/>
            <a:r>
              <a:rPr lang="en-IN" dirty="0"/>
              <a:t>Identify relevant candidate skills </a:t>
            </a:r>
          </a:p>
          <a:p>
            <a:pPr lvl="0"/>
            <a:r>
              <a:rPr lang="en-IN" dirty="0"/>
              <a:t>Match resumes with job descriptions </a:t>
            </a:r>
          </a:p>
          <a:p>
            <a:pPr lvl="0"/>
            <a:r>
              <a:rPr lang="en-IN" dirty="0"/>
              <a:t>Generate candidate suitability scores </a:t>
            </a:r>
          </a:p>
          <a:p>
            <a:pPr lvl="0"/>
            <a:r>
              <a:rPr lang="en-IN" dirty="0"/>
              <a:t>Support faster hiring decisions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2951823"/>
      </p:ext>
    </p:extLst>
  </p:cSld>
  <p:clrMapOvr>
    <a:masterClrMapping/>
  </p:clrMapOvr>
  <p:transition spd="slow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33EBA-A0EA-2F5A-8047-2DCD9F2E8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178" y="681037"/>
            <a:ext cx="10515600" cy="523396"/>
          </a:xfrm>
        </p:spPr>
        <p:txBody>
          <a:bodyPr/>
          <a:lstStyle/>
          <a:p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91A1E-A29E-226B-D07D-BD46A9729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5057"/>
            <a:ext cx="10515600" cy="5831906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Usage</a:t>
            </a:r>
          </a:p>
          <a:p>
            <a:pPr lvl="0"/>
            <a:r>
              <a:rPr lang="en-IN" b="1" dirty="0"/>
              <a:t>Resume Screening</a:t>
            </a:r>
            <a:r>
              <a:rPr lang="en-IN" dirty="0"/>
              <a:t> – Quickly </a:t>
            </a:r>
            <a:r>
              <a:rPr lang="en-IN" dirty="0" err="1"/>
              <a:t>analyzes</a:t>
            </a:r>
            <a:r>
              <a:rPr lang="en-IN" dirty="0"/>
              <a:t> resumes. </a:t>
            </a:r>
          </a:p>
          <a:p>
            <a:pPr lvl="0"/>
            <a:r>
              <a:rPr lang="en-IN" b="1" dirty="0"/>
              <a:t>Skill Identification</a:t>
            </a:r>
            <a:r>
              <a:rPr lang="en-IN" dirty="0"/>
              <a:t> – Extracts relevant skills. </a:t>
            </a:r>
          </a:p>
          <a:p>
            <a:pPr lvl="0"/>
            <a:r>
              <a:rPr lang="en-IN" b="1" dirty="0"/>
              <a:t>Job Matching</a:t>
            </a:r>
            <a:r>
              <a:rPr lang="en-IN" dirty="0"/>
              <a:t> – Compares resumes with job requirements. </a:t>
            </a:r>
          </a:p>
          <a:p>
            <a:pPr lvl="0"/>
            <a:r>
              <a:rPr lang="en-IN" b="1" dirty="0"/>
              <a:t>Candidate Ranking</a:t>
            </a:r>
            <a:r>
              <a:rPr lang="en-IN" dirty="0"/>
              <a:t> – Ranks candidates based on suitability. </a:t>
            </a:r>
          </a:p>
          <a:p>
            <a:pPr lvl="0"/>
            <a:r>
              <a:rPr lang="en-IN" b="1" dirty="0"/>
              <a:t>Resume Evaluation</a:t>
            </a:r>
            <a:r>
              <a:rPr lang="en-IN" dirty="0"/>
              <a:t> – Provides an overall matching score. </a:t>
            </a:r>
          </a:p>
          <a:p>
            <a:pPr lvl="0"/>
            <a:r>
              <a:rPr lang="en-IN" b="1" dirty="0"/>
              <a:t>Recruitment Support</a:t>
            </a:r>
            <a:r>
              <a:rPr lang="en-IN" dirty="0"/>
              <a:t> – Helps make faster hiring decisions.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0291F-024F-F4FE-4A70-FCE7DB01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7221664"/>
      </p:ext>
    </p:extLst>
  </p:cSld>
  <p:clrMapOvr>
    <a:masterClrMapping/>
  </p:clrMapOvr>
  <p:transition spd="slow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Methodology Used</a:t>
            </a:r>
          </a:p>
          <a:p>
            <a:pPr lvl="0"/>
            <a:r>
              <a:rPr lang="en-IN" dirty="0"/>
              <a:t>The resume is uploaded and its text is extracted for analysis. </a:t>
            </a:r>
          </a:p>
          <a:p>
            <a:pPr lvl="0"/>
            <a:r>
              <a:rPr lang="en-IN" dirty="0"/>
              <a:t>NLP techniques are used to identify important keywords and skills. </a:t>
            </a:r>
          </a:p>
          <a:p>
            <a:pPr lvl="0"/>
            <a:r>
              <a:rPr lang="en-IN" dirty="0"/>
              <a:t>The extracted resume information is compared with the job description. </a:t>
            </a:r>
          </a:p>
          <a:p>
            <a:pPr lvl="0"/>
            <a:r>
              <a:rPr lang="en-IN" dirty="0"/>
              <a:t>TF-IDF and cosine similarity are used to calculate the matching score. </a:t>
            </a:r>
          </a:p>
          <a:p>
            <a:pPr lvl="0"/>
            <a:r>
              <a:rPr lang="en-IN" dirty="0"/>
              <a:t>The system generates the final score and relevant candidate insights. 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58729"/>
      </p:ext>
    </p:extLst>
  </p:cSld>
  <p:clrMapOvr>
    <a:masterClrMapping/>
  </p:clrMapOvr>
  <p:transition spd="slow">
    <p:blinds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44D6-2A01-1A77-3834-CA3E36A94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1872"/>
            <a:ext cx="9144000" cy="667204"/>
          </a:xfrm>
        </p:spPr>
        <p:txBody>
          <a:bodyPr/>
          <a:lstStyle/>
          <a:p>
            <a:br>
              <a:rPr lang="en-IN" sz="2800" b="1" dirty="0"/>
            </a:br>
            <a:endParaRPr lang="en-IN" sz="2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43ECE8-6D7C-F073-4C49-333675D517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6762" y="479685"/>
            <a:ext cx="9831238" cy="4778116"/>
          </a:xfrm>
        </p:spPr>
        <p:txBody>
          <a:bodyPr/>
          <a:lstStyle/>
          <a:p>
            <a:pPr algn="l"/>
            <a:r>
              <a:rPr lang="en-IN" sz="2800" b="1" dirty="0"/>
              <a:t>Technologies and Concepts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2800" b="1" dirty="0"/>
              <a:t>Python</a:t>
            </a:r>
            <a:r>
              <a:rPr lang="en-IN" sz="2800" dirty="0"/>
              <a:t> – Core programming language. 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2800" b="1" dirty="0" err="1"/>
              <a:t>Streamlit</a:t>
            </a:r>
            <a:r>
              <a:rPr lang="en-IN" sz="2800" dirty="0"/>
              <a:t> – Used to build the application interface. 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2800" b="1" dirty="0"/>
              <a:t>NLP</a:t>
            </a:r>
            <a:r>
              <a:rPr lang="en-IN" sz="2800" dirty="0"/>
              <a:t> – Used for text and skill extraction. 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2800" b="1" dirty="0"/>
              <a:t>Scikit-learn</a:t>
            </a:r>
            <a:r>
              <a:rPr lang="en-IN" sz="2800" dirty="0"/>
              <a:t> – Used for TF-IDF and similarity analysis. 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2800" b="1" dirty="0"/>
              <a:t>PyPDF2</a:t>
            </a:r>
            <a:r>
              <a:rPr lang="en-IN" sz="2800" dirty="0"/>
              <a:t> – Used to extract text from PDF resumes.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42594485"/>
      </p:ext>
    </p:extLst>
  </p:cSld>
  <p:clrMapOvr>
    <a:masterClrMapping/>
  </p:clrMapOvr>
  <p:transition spd="slow"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F6E21-7E22-C6E9-5AE9-C7C17BF18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-284813"/>
            <a:ext cx="1138335" cy="135523"/>
          </a:xfrm>
        </p:spPr>
        <p:txBody>
          <a:bodyPr/>
          <a:lstStyle/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D0B2BA-21CD-F77C-8CA3-6326AC3CC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9274" y="1567543"/>
            <a:ext cx="943461" cy="36389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215725-6C77-6769-B3BE-8E4445A33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1538" y="409323"/>
            <a:ext cx="6226397" cy="498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520426"/>
      </p:ext>
    </p:extLst>
  </p:cSld>
  <p:clrMapOvr>
    <a:masterClrMapping/>
  </p:clrMapOvr>
  <p:transition spd="slow"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576" y="365125"/>
            <a:ext cx="10709224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4576" y="1274163"/>
            <a:ext cx="10317331" cy="4138471"/>
          </a:xfrm>
        </p:spPr>
        <p:txBody>
          <a:bodyPr/>
          <a:lstStyle/>
          <a:p>
            <a:pPr lvl="0"/>
            <a:r>
              <a:rPr lang="en-IN" dirty="0"/>
              <a:t>The system successfully extracts text from uploaded resumes. </a:t>
            </a:r>
          </a:p>
          <a:p>
            <a:pPr lvl="0"/>
            <a:r>
              <a:rPr lang="en-IN" dirty="0"/>
              <a:t>Relevant skills and keywords are identified automatically. </a:t>
            </a:r>
          </a:p>
          <a:p>
            <a:pPr lvl="0"/>
            <a:r>
              <a:rPr lang="en-IN" dirty="0"/>
              <a:t>Resumes are compared with the given job description. </a:t>
            </a:r>
          </a:p>
          <a:p>
            <a:pPr lvl="0"/>
            <a:r>
              <a:rPr lang="en-IN" dirty="0"/>
              <a:t>A matching score is generated for each resume. </a:t>
            </a:r>
          </a:p>
          <a:p>
            <a:pPr lvl="0"/>
            <a:r>
              <a:rPr lang="en-IN" dirty="0"/>
              <a:t>Candidates are evaluated based on their job suitability. </a:t>
            </a:r>
          </a:p>
          <a:p>
            <a:pPr lvl="0"/>
            <a:r>
              <a:rPr lang="en-IN" dirty="0"/>
              <a:t>The system provides faster and more efficient resume screening.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375810"/>
      </p:ext>
    </p:extLst>
  </p:cSld>
  <p:clrMapOvr>
    <a:masterClrMapping/>
  </p:clrMapOvr>
  <p:transition spd="slow">
    <p:blinds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626" y="365125"/>
            <a:ext cx="10784174" cy="804108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379095"/>
            <a:ext cx="10515600" cy="4033540"/>
          </a:xfrm>
        </p:spPr>
        <p:txBody>
          <a:bodyPr/>
          <a:lstStyle/>
          <a:p>
            <a:pPr lvl="0"/>
            <a:r>
              <a:rPr lang="en-IN" dirty="0"/>
              <a:t>The AI Resume Analyzer automates the resume screening process. </a:t>
            </a:r>
          </a:p>
          <a:p>
            <a:pPr lvl="0"/>
            <a:r>
              <a:rPr lang="en-IN" dirty="0"/>
              <a:t>It efficiently extracts skills and important resume information. </a:t>
            </a:r>
          </a:p>
          <a:p>
            <a:pPr lvl="0"/>
            <a:r>
              <a:rPr lang="en-IN" dirty="0"/>
              <a:t>It compares candidate profiles with job requirements. </a:t>
            </a:r>
          </a:p>
          <a:p>
            <a:pPr lvl="0"/>
            <a:r>
              <a:rPr lang="en-IN" dirty="0"/>
              <a:t>The system generates a useful resume matching score. </a:t>
            </a:r>
          </a:p>
          <a:p>
            <a:pPr lvl="0"/>
            <a:r>
              <a:rPr lang="en-IN" dirty="0"/>
              <a:t>It reduces manual effort and saves recruitment time. </a:t>
            </a:r>
          </a:p>
          <a:p>
            <a:pPr lvl="0"/>
            <a:r>
              <a:rPr lang="en-IN" dirty="0"/>
              <a:t>Overall, it supports faster and smarter hiring decisions.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392139"/>
      </p:ext>
    </p:extLst>
  </p:cSld>
  <p:clrMapOvr>
    <a:masterClrMapping/>
  </p:clrMapOvr>
  <p:transition spd="slow">
    <p:blinds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15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975439"/>
      </p:ext>
    </p:extLst>
  </p:cSld>
  <p:clrMapOvr>
    <a:masterClrMapping/>
  </p:clrMapOvr>
  <p:transition spd="slow">
    <p:blinds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440382"/>
      </p:ext>
    </p:extLst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8022</TotalTime>
  <Words>566</Words>
  <Application>Microsoft Office PowerPoint</Application>
  <PresentationFormat>Widescreen</PresentationFormat>
  <Paragraphs>114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Key Products</vt:lpstr>
      <vt:lpstr>Working domain or the technology</vt:lpstr>
      <vt:lpstr>Features </vt:lpstr>
      <vt:lpstr>  Importance</vt:lpstr>
      <vt:lpstr>Objectives of the work</vt:lpstr>
      <vt:lpstr> </vt:lpstr>
      <vt:lpstr>Methodology Used / Course Description </vt:lpstr>
      <vt:lpstr> </vt:lpstr>
      <vt:lpstr>PowerPoint Presentation</vt:lpstr>
      <vt:lpstr>Results 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Vani Dinesh Naik</cp:lastModifiedBy>
  <cp:revision>945</cp:revision>
  <cp:lastPrinted>2018-07-24T06:37:20Z</cp:lastPrinted>
  <dcterms:created xsi:type="dcterms:W3CDTF">2018-06-07T04:06:17Z</dcterms:created>
  <dcterms:modified xsi:type="dcterms:W3CDTF">2026-08-08T03:14:39Z</dcterms:modified>
</cp:coreProperties>
</file>